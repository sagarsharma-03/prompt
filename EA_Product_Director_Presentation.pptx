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1298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-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713" y="1872136"/>
            <a:ext cx="822960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>
              <a:defRPr sz="1600"/>
            </a:pPr>
            <a:r>
              <a:rPr lang="en-US" dirty="0"/>
              <a:t>G</a:t>
            </a:r>
            <a:r>
              <a:rPr dirty="0"/>
              <a:t>ame Growth: DAU grew 6x (1.8k → 11.1k), Revenue $216k (Jan-Apr)</a:t>
            </a:r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ARPDAU Paradox: Fell 10.6% overall BUT improved in every country tier</a:t>
            </a:r>
          </a:p>
          <a:p>
            <a:pPr lvl="1">
              <a:defRPr sz="1400"/>
            </a:pPr>
            <a:r>
              <a:rPr dirty="0"/>
              <a:t>   • Root Cause: Low-monetizing Tier 4 grew from 17% to 42% of player base</a:t>
            </a:r>
          </a:p>
          <a:p>
            <a:pPr lvl="1">
              <a:defRPr sz="1400"/>
            </a:pPr>
            <a:r>
              <a:rPr dirty="0"/>
              <a:t>   • This is Simpson's Paradox - composition shift driving overall decline</a:t>
            </a:r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Retention Crisis: 85% churn by Day 1, only 5.4% remain at Day 30</a:t>
            </a:r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Monetization: 86% never pay | Top 10% of spenders = 48% of revenue</a:t>
            </a:r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Acquisition: Paid Video shows +24 min engagement vs Paid Social (p&lt;0.001)</a:t>
            </a:r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Churn Model: Built interpretable logistic regression (ROC-AUC 0.65)</a:t>
            </a:r>
          </a:p>
          <a:p>
            <a:pPr lvl="1">
              <a:defRPr sz="1400"/>
            </a:pPr>
            <a:r>
              <a:rPr dirty="0"/>
              <a:t>   • Ad engagement is the strongest retention signal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Game Health - Strong Growth, Platform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721" y="2093154"/>
            <a:ext cx="7937079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600" b="1"/>
            </a:pPr>
            <a:r>
              <a:rPr dirty="0"/>
              <a:t>Daily Active Users (DAU) - 6x Growth</a:t>
            </a:r>
          </a:p>
          <a:p>
            <a:pPr lvl="1">
              <a:defRPr sz="1400"/>
            </a:pPr>
            <a:r>
              <a:rPr dirty="0"/>
              <a:t>   • Android: 3,821 avg DAU (71% of total)</a:t>
            </a:r>
          </a:p>
          <a:p>
            <a:pPr lvl="1">
              <a:defRPr sz="1400"/>
            </a:pPr>
            <a:r>
              <a:rPr dirty="0"/>
              <a:t>   • iOS: 1,740 avg DAU (29% of total)</a:t>
            </a:r>
          </a:p>
          <a:p>
            <a:pPr lvl="1">
              <a:defRPr sz="1400"/>
            </a:pPr>
            <a:r>
              <a:rPr dirty="0"/>
              <a:t>   • Jan 1: 1,789 → Apr 30: 11,097</a:t>
            </a:r>
          </a:p>
          <a:p>
            <a:pPr>
              <a:defRPr sz="1600" b="1"/>
            </a:pPr>
            <a:endParaRPr dirty="0"/>
          </a:p>
          <a:p>
            <a:pPr>
              <a:defRPr sz="1600" b="1"/>
            </a:pPr>
            <a:r>
              <a:rPr dirty="0"/>
              <a:t>Revenue &amp; Monetization by Platform</a:t>
            </a:r>
          </a:p>
          <a:p>
            <a:pPr lvl="1">
              <a:defRPr sz="1400"/>
            </a:pPr>
            <a:r>
              <a:rPr dirty="0"/>
              <a:t>   • Total Revenue (Jan-Apr): $216,159</a:t>
            </a:r>
          </a:p>
          <a:p>
            <a:pPr lvl="1">
              <a:defRPr sz="1400"/>
            </a:pPr>
            <a:r>
              <a:rPr dirty="0"/>
              <a:t>   • iOS monetizes 2x better: ARPDAU $0.50 vs Android $0.25</a:t>
            </a:r>
          </a:p>
          <a:p>
            <a:pPr lvl="1">
              <a:defRPr sz="1400"/>
            </a:pPr>
            <a:r>
              <a:rPr dirty="0"/>
              <a:t>   • iOS Payer Rate: 3.5% | Android: 1.8%</a:t>
            </a:r>
          </a:p>
          <a:p>
            <a:pPr>
              <a:defRPr sz="1600" b="1"/>
            </a:pPr>
            <a:endParaRPr dirty="0"/>
          </a:p>
          <a:p>
            <a:pPr>
              <a:defRPr sz="1600" b="1"/>
            </a:pPr>
            <a:r>
              <a:rPr dirty="0"/>
              <a:t>Retention (Cohort Average)</a:t>
            </a:r>
          </a:p>
          <a:p>
            <a:pPr lvl="1">
              <a:defRPr sz="1400"/>
            </a:pPr>
            <a:r>
              <a:rPr dirty="0"/>
              <a:t>   • Day 1: 14.7% | Day 7: 8.3% | Day 14: 6.8% | Day 30: 5.4%</a:t>
            </a:r>
          </a:p>
          <a:p>
            <a:pPr lvl="1">
              <a:defRPr sz="1400"/>
            </a:pPr>
            <a:r>
              <a:rPr dirty="0"/>
              <a:t>   • 85% of players churn by Day 1 - CRITICAL ISSUE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Monetization - Highly Concentrated, Long Purchase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1371" y="1954476"/>
            <a:ext cx="8175429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600" b="1"/>
            </a:pPr>
            <a:r>
              <a:rPr dirty="0"/>
              <a:t>Revenue Concentration</a:t>
            </a:r>
          </a:p>
          <a:p>
            <a:pPr lvl="1">
              <a:defRPr sz="1400"/>
            </a:pPr>
            <a:r>
              <a:rPr dirty="0"/>
              <a:t>   • Top 1% of spenders: 9.4% of revenue</a:t>
            </a:r>
          </a:p>
          <a:p>
            <a:pPr lvl="1">
              <a:defRPr sz="1400"/>
            </a:pPr>
            <a:r>
              <a:rPr dirty="0"/>
              <a:t>   • Top 10% of spenders: 48% of revenue</a:t>
            </a:r>
          </a:p>
          <a:p>
            <a:pPr lvl="1">
              <a:defRPr sz="1400"/>
            </a:pPr>
            <a:r>
              <a:rPr dirty="0"/>
              <a:t>   • Top 50% of spenders: 90% of revenue</a:t>
            </a:r>
          </a:p>
          <a:p>
            <a:pPr lvl="1">
              <a:defRPr sz="1400"/>
            </a:pPr>
            <a:r>
              <a:rPr dirty="0"/>
              <a:t>   • Overall: 13.8% of players ever pay (86% never monetize)</a:t>
            </a:r>
          </a:p>
          <a:p>
            <a:pPr>
              <a:defRPr sz="1600" b="1"/>
            </a:pPr>
            <a:endParaRPr dirty="0"/>
          </a:p>
          <a:p>
            <a:pPr>
              <a:defRPr sz="1600" b="1"/>
            </a:pPr>
            <a:r>
              <a:rPr dirty="0"/>
              <a:t>Time to First Purchase - Slow Conversion</a:t>
            </a:r>
          </a:p>
          <a:p>
            <a:pPr lvl="1">
              <a:defRPr sz="1400"/>
            </a:pPr>
            <a:r>
              <a:rPr dirty="0"/>
              <a:t>   • Median: 22 days after install</a:t>
            </a:r>
          </a:p>
          <a:p>
            <a:pPr lvl="1">
              <a:defRPr sz="1400"/>
            </a:pPr>
            <a:r>
              <a:rPr dirty="0"/>
              <a:t>   • 25th percentile: 6 days | 75th percentile: 68 days</a:t>
            </a:r>
          </a:p>
          <a:p>
            <a:pPr lvl="1">
              <a:defRPr sz="1400"/>
            </a:pPr>
            <a:r>
              <a:rPr dirty="0"/>
              <a:t>   • Only 5.8% purchase on Day 0</a:t>
            </a:r>
          </a:p>
          <a:p>
            <a:pPr>
              <a:defRPr sz="1600" b="1"/>
            </a:pPr>
            <a:endParaRPr dirty="0"/>
          </a:p>
          <a:p>
            <a:pPr>
              <a:defRPr sz="1600" b="1"/>
            </a:pPr>
            <a:r>
              <a:rPr dirty="0"/>
              <a:t>Repeat Purchase Behavior</a:t>
            </a:r>
          </a:p>
          <a:p>
            <a:pPr lvl="1">
              <a:defRPr sz="1400"/>
            </a:pPr>
            <a:r>
              <a:rPr dirty="0"/>
              <a:t>   • Median gap between purchases: 14 days</a:t>
            </a:r>
          </a:p>
          <a:p>
            <a:pPr lvl="1">
              <a:defRPr sz="1400"/>
            </a:pPr>
            <a:r>
              <a:rPr dirty="0"/>
              <a:t>   • 17% repeat within 7 days (fast repeaters)</a:t>
            </a:r>
          </a:p>
          <a:p>
            <a:pPr>
              <a:defRPr sz="1600" b="1"/>
            </a:pPr>
            <a:endParaRPr dirty="0"/>
          </a:p>
          <a:p>
            <a:pPr>
              <a:defRPr sz="1600" b="1"/>
            </a:pPr>
            <a:r>
              <a:rPr dirty="0"/>
              <a:t>Insight: Long time-to-first-purchase = missed revenue opportunity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ARPDAU Deep Dive - Simpson's Paradox Discovered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5052" y="1677122"/>
            <a:ext cx="7971747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600" b="1"/>
            </a:pPr>
            <a:r>
              <a:rPr dirty="0"/>
              <a:t>The Paradox:</a:t>
            </a:r>
          </a:p>
          <a:p>
            <a:pPr lvl="1">
              <a:defRPr sz="1400"/>
            </a:pPr>
            <a:r>
              <a:rPr dirty="0"/>
              <a:t>   • Overall ARPDAU fell 10.6% (First 30 days vs Last 30 days)</a:t>
            </a:r>
          </a:p>
          <a:p>
            <a:pPr lvl="1">
              <a:defRPr sz="1400"/>
            </a:pPr>
            <a:r>
              <a:rPr dirty="0"/>
              <a:t>   • BUT every country tier IMPROVED:</a:t>
            </a:r>
          </a:p>
          <a:p>
            <a:pPr lvl="2">
              <a:defRPr sz="1300"/>
            </a:pPr>
            <a:r>
              <a:rPr dirty="0"/>
              <a:t>      Tier 1: +2.3% | Tier 2: +8.7% | Tier 3: +18.2% | Tier 4: +16.5%</a:t>
            </a:r>
          </a:p>
          <a:p>
            <a:pPr>
              <a:defRPr sz="1600" b="1"/>
            </a:pPr>
            <a:endParaRPr dirty="0"/>
          </a:p>
          <a:p>
            <a:pPr>
              <a:defRPr sz="1600" b="1"/>
            </a:pPr>
            <a:r>
              <a:rPr dirty="0"/>
              <a:t>Root Cause: Composition Shift</a:t>
            </a:r>
          </a:p>
          <a:p>
            <a:pPr lvl="1">
              <a:defRPr sz="1400"/>
            </a:pPr>
            <a:r>
              <a:rPr dirty="0"/>
              <a:t>   • Tier 4 (lowest ARPDAU $0.66) grew from 17% → 42% of DAU (+24pp)</a:t>
            </a:r>
          </a:p>
          <a:p>
            <a:pPr lvl="1">
              <a:defRPr sz="1400"/>
            </a:pPr>
            <a:r>
              <a:rPr dirty="0"/>
              <a:t>   • Tier 1 (highest ARPDAU $1.90) fell from 35% → 23% of DAU (-12pp)</a:t>
            </a:r>
          </a:p>
          <a:p>
            <a:pPr lvl="1">
              <a:defRPr sz="1400"/>
            </a:pPr>
            <a:r>
              <a:rPr dirty="0"/>
              <a:t>   • Mix shift overwhelmed individual tier improvements</a:t>
            </a:r>
          </a:p>
          <a:p>
            <a:pPr>
              <a:defRPr sz="1600" b="1"/>
            </a:pPr>
            <a:endParaRPr dirty="0"/>
          </a:p>
          <a:p>
            <a:pPr>
              <a:defRPr sz="1600" b="1"/>
            </a:pPr>
            <a:r>
              <a:rPr dirty="0"/>
              <a:t>Why This Matters:</a:t>
            </a:r>
          </a:p>
          <a:p>
            <a:pPr lvl="1">
              <a:defRPr sz="1400"/>
            </a:pPr>
            <a:r>
              <a:rPr dirty="0"/>
              <a:t>   • Each tier IS improving (positive signal)</a:t>
            </a:r>
          </a:p>
          <a:p>
            <a:pPr lvl="1">
              <a:defRPr sz="1400"/>
            </a:pPr>
            <a:r>
              <a:rPr dirty="0"/>
              <a:t>   • But player composition shifting toward low-value countries</a:t>
            </a:r>
          </a:p>
          <a:p>
            <a:pPr lvl="1">
              <a:defRPr sz="1400"/>
            </a:pPr>
            <a:r>
              <a:rPr dirty="0"/>
              <a:t>   • Need to understand: Why is Tier 4 growing fastest?</a:t>
            </a:r>
          </a:p>
          <a:p>
            <a:pPr>
              <a:defRPr sz="1600" b="1"/>
            </a:pPr>
            <a:endParaRPr dirty="0"/>
          </a:p>
          <a:p>
            <a:pPr>
              <a:defRPr sz="1600" b="1"/>
            </a:pPr>
            <a:r>
              <a:rPr dirty="0"/>
              <a:t>Recommendations:</a:t>
            </a:r>
          </a:p>
          <a:p>
            <a:pPr lvl="1">
              <a:defRPr sz="1400"/>
            </a:pPr>
            <a:r>
              <a:rPr dirty="0"/>
              <a:t>   • Investigate Tier 4 growth drivers (organic? UA spend?)</a:t>
            </a:r>
          </a:p>
          <a:p>
            <a:pPr lvl="1">
              <a:defRPr sz="1400"/>
            </a:pPr>
            <a:r>
              <a:rPr dirty="0"/>
              <a:t>   • Consider rebalancing UA toward higher-value tiers</a:t>
            </a:r>
          </a:p>
          <a:p>
            <a:pPr lvl="1">
              <a:defRPr sz="1400"/>
            </a:pPr>
            <a:r>
              <a:rPr dirty="0"/>
              <a:t>   • Develop tier-specific monetization strategies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Acquisition - Paid Video Wins on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037" y="1655454"/>
            <a:ext cx="8179763" cy="4447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500" b="1"/>
            </a:pPr>
            <a:r>
              <a:rPr dirty="0"/>
              <a:t>Sample: 53,489 players with complete 30-day observation</a:t>
            </a:r>
          </a:p>
          <a:p>
            <a:pPr>
              <a:defRPr sz="1500"/>
            </a:pPr>
            <a:endParaRPr dirty="0"/>
          </a:p>
          <a:p>
            <a:pPr>
              <a:defRPr sz="1500"/>
            </a:pPr>
            <a:r>
              <a:rPr dirty="0"/>
              <a:t>Engagement (Avg playtime in first 30 days):</a:t>
            </a:r>
          </a:p>
          <a:p>
            <a:pPr lvl="1">
              <a:defRPr sz="1300"/>
            </a:pPr>
            <a:r>
              <a:rPr dirty="0"/>
              <a:t>   • Paid Video: 114.8 min (HIGHEST)</a:t>
            </a:r>
          </a:p>
          <a:p>
            <a:pPr lvl="1">
              <a:defRPr sz="1300"/>
            </a:pPr>
            <a:r>
              <a:rPr dirty="0"/>
              <a:t>   • Organic: 97.8 min</a:t>
            </a:r>
          </a:p>
          <a:p>
            <a:pPr lvl="1">
              <a:defRPr sz="1300"/>
            </a:pPr>
            <a:r>
              <a:rPr dirty="0"/>
              <a:t>   • Paid Social: 90.9 min (LOWEST)</a:t>
            </a:r>
          </a:p>
          <a:p>
            <a:pPr lvl="1">
              <a:defRPr sz="1300"/>
            </a:pPr>
            <a:r>
              <a:rPr dirty="0"/>
              <a:t>   • Paid Video vs Paid Social: +23.9 min (p&lt;0.001, highly significant)</a:t>
            </a:r>
          </a:p>
          <a:p>
            <a:pPr>
              <a:defRPr sz="1500"/>
            </a:pPr>
            <a:endParaRPr dirty="0"/>
          </a:p>
          <a:p>
            <a:pPr>
              <a:defRPr sz="1500" b="1"/>
            </a:pPr>
            <a:r>
              <a:rPr dirty="0"/>
              <a:t>Revenue (Avg in first 30 days):</a:t>
            </a:r>
          </a:p>
          <a:p>
            <a:pPr lvl="1">
              <a:defRPr sz="1300"/>
            </a:pPr>
            <a:r>
              <a:rPr dirty="0"/>
              <a:t>   • Organic: $1.62 | Paid Social: $1.48 | Paid Video: $1.30</a:t>
            </a:r>
          </a:p>
          <a:p>
            <a:pPr lvl="1">
              <a:defRPr sz="1300"/>
            </a:pPr>
            <a:r>
              <a:rPr dirty="0"/>
              <a:t>   • Differences small, mostly NOT statistically significant</a:t>
            </a:r>
          </a:p>
          <a:p>
            <a:pPr lvl="1">
              <a:defRPr sz="1300"/>
            </a:pPr>
            <a:r>
              <a:rPr dirty="0"/>
              <a:t>   • Conversion rates similar across channels (7.6-8.8%)</a:t>
            </a:r>
          </a:p>
          <a:p>
            <a:pPr>
              <a:defRPr sz="1500"/>
            </a:pPr>
            <a:endParaRPr dirty="0"/>
          </a:p>
          <a:p>
            <a:pPr>
              <a:defRPr sz="1500" b="1"/>
            </a:pPr>
            <a:r>
              <a:rPr dirty="0"/>
              <a:t>Key Insights:</a:t>
            </a:r>
          </a:p>
          <a:p>
            <a:pPr lvl="1">
              <a:defRPr sz="1300"/>
            </a:pPr>
            <a:r>
              <a:rPr dirty="0"/>
              <a:t>   • Paid Video acquires most engaged players (17-25% more playtime)</a:t>
            </a:r>
          </a:p>
          <a:p>
            <a:pPr lvl="1">
              <a:defRPr sz="1300"/>
            </a:pPr>
            <a:r>
              <a:rPr dirty="0"/>
              <a:t>   • Higher engagement doesn't translate to proportionally higher revenue</a:t>
            </a:r>
          </a:p>
          <a:p>
            <a:pPr lvl="1">
              <a:defRPr sz="1300"/>
            </a:pPr>
            <a:r>
              <a:rPr dirty="0"/>
              <a:t>   • Statistical significance ≠ business significance</a:t>
            </a:r>
          </a:p>
          <a:p>
            <a:pPr>
              <a:defRPr sz="1500"/>
            </a:pPr>
            <a:endParaRPr dirty="0"/>
          </a:p>
          <a:p>
            <a:pPr>
              <a:defRPr sz="1500" b="1"/>
            </a:pPr>
            <a:r>
              <a:rPr dirty="0"/>
              <a:t>Recommendation: Prioritize Paid Video (pending full LTV - CPI analysis)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Prediction - Interpretable Model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90776"/>
            <a:ext cx="8229600" cy="4816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500" b="1"/>
            </a:pPr>
            <a:r>
              <a:rPr dirty="0"/>
              <a:t>Objective: Predict which active players will churn in next 14 days</a:t>
            </a:r>
          </a:p>
          <a:p>
            <a:pPr>
              <a:defRPr sz="1500"/>
            </a:pPr>
            <a:endParaRPr dirty="0"/>
          </a:p>
          <a:p>
            <a:pPr>
              <a:defRPr sz="1500" b="1"/>
            </a:pPr>
            <a:r>
              <a:rPr dirty="0"/>
              <a:t>Approach:</a:t>
            </a:r>
          </a:p>
          <a:p>
            <a:pPr lvl="1">
              <a:defRPr sz="1400"/>
            </a:pPr>
            <a:r>
              <a:rPr dirty="0"/>
              <a:t>   • Algorithm: Logistic Regression (simple, interpretable)</a:t>
            </a:r>
          </a:p>
          <a:p>
            <a:pPr lvl="1">
              <a:defRPr sz="1400"/>
            </a:pPr>
            <a:r>
              <a:rPr dirty="0"/>
              <a:t>   • Features: Recent behavior (activity, playtime, purchases, ads)</a:t>
            </a:r>
          </a:p>
          <a:p>
            <a:pPr lvl="1">
              <a:defRPr sz="1400"/>
            </a:pPr>
            <a:r>
              <a:rPr dirty="0"/>
              <a:t>   • Train/Test: Time-based split (no data leakage)</a:t>
            </a:r>
          </a:p>
          <a:p>
            <a:pPr lvl="1">
              <a:defRPr sz="1400"/>
            </a:pPr>
            <a:r>
              <a:rPr dirty="0"/>
              <a:t>   • As-of date: Apr 2, 2026</a:t>
            </a:r>
          </a:p>
          <a:p>
            <a:pPr>
              <a:defRPr sz="1500"/>
            </a:pPr>
            <a:endParaRPr dirty="0"/>
          </a:p>
          <a:p>
            <a:pPr>
              <a:defRPr sz="1500" b="1"/>
            </a:pPr>
            <a:r>
              <a:rPr dirty="0"/>
              <a:t>Performance:</a:t>
            </a:r>
          </a:p>
          <a:p>
            <a:pPr lvl="1">
              <a:defRPr sz="1400"/>
            </a:pPr>
            <a:r>
              <a:rPr dirty="0"/>
              <a:t>   • ROC-AUC: 0.65 (moderate discrimination)</a:t>
            </a:r>
          </a:p>
          <a:p>
            <a:pPr lvl="1">
              <a:defRPr sz="1400"/>
            </a:pPr>
            <a:r>
              <a:rPr dirty="0"/>
              <a:t>   • Better than random targeting</a:t>
            </a:r>
          </a:p>
          <a:p>
            <a:pPr lvl="1">
              <a:defRPr sz="1400"/>
            </a:pPr>
            <a:r>
              <a:rPr dirty="0"/>
              <a:t>   • Test set: 12,069 players, 8.1% churn rate</a:t>
            </a:r>
          </a:p>
          <a:p>
            <a:pPr>
              <a:defRPr sz="1500"/>
            </a:pPr>
            <a:endParaRPr dirty="0"/>
          </a:p>
          <a:p>
            <a:pPr>
              <a:defRPr sz="1500" b="1"/>
            </a:pPr>
            <a:r>
              <a:rPr dirty="0"/>
              <a:t>Top Predictive Features:</a:t>
            </a:r>
          </a:p>
          <a:p>
            <a:pPr lvl="1">
              <a:defRPr sz="1400"/>
            </a:pPr>
            <a:r>
              <a:rPr dirty="0"/>
              <a:t>   • Ad engagement: Strongest retention signal (-0.111)</a:t>
            </a:r>
          </a:p>
          <a:p>
            <a:pPr lvl="1">
              <a:defRPr sz="1400"/>
            </a:pPr>
            <a:r>
              <a:rPr dirty="0"/>
              <a:t>   • Session frequency: More sessions = lower churn (-0.093)</a:t>
            </a:r>
          </a:p>
          <a:p>
            <a:pPr lvl="1">
              <a:defRPr sz="1400"/>
            </a:pPr>
            <a:r>
              <a:rPr dirty="0"/>
              <a:t>   • Total playtime: More time = lower churn (-0.013)</a:t>
            </a:r>
          </a:p>
          <a:p>
            <a:pPr>
              <a:defRPr sz="1500"/>
            </a:pPr>
            <a:endParaRPr dirty="0"/>
          </a:p>
          <a:p>
            <a:pPr>
              <a:defRPr sz="1500" b="1"/>
            </a:pPr>
            <a:r>
              <a:rPr dirty="0"/>
              <a:t>Business Use: Identify high-risk players for retention campaigns</a:t>
            </a:r>
          </a:p>
          <a:p>
            <a:pPr lvl="1">
              <a:defRPr sz="1400"/>
            </a:pPr>
            <a:r>
              <a:rPr dirty="0"/>
              <a:t>   • Target: Low ad engagement + declining playtime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- 5 Priority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379" y="1620785"/>
            <a:ext cx="8021585" cy="5247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500" b="1"/>
            </a:pPr>
            <a:r>
              <a:rPr dirty="0"/>
              <a:t>1. Fix Early Retention (MOST CRITICAL)</a:t>
            </a:r>
          </a:p>
          <a:p>
            <a:pPr lvl="1">
              <a:defRPr sz="1300"/>
            </a:pPr>
            <a:r>
              <a:rPr dirty="0"/>
              <a:t>   • 85% Day 1 churn is a crisis - analyze FTUE immediately</a:t>
            </a:r>
          </a:p>
          <a:p>
            <a:pPr lvl="1">
              <a:defRPr sz="1300"/>
            </a:pPr>
            <a:r>
              <a:rPr dirty="0"/>
              <a:t>   • Target: Improve D1 retention from 15% → 25%</a:t>
            </a:r>
          </a:p>
          <a:p>
            <a:pPr lvl="1">
              <a:defRPr sz="1300"/>
            </a:pPr>
            <a:r>
              <a:rPr dirty="0"/>
              <a:t>   • A/B test onboarding improvements, reduce early friction</a:t>
            </a:r>
          </a:p>
          <a:p>
            <a:pPr>
              <a:defRPr sz="1500"/>
            </a:pPr>
            <a:endParaRPr dirty="0"/>
          </a:p>
          <a:p>
            <a:pPr>
              <a:defRPr sz="1500" b="1"/>
            </a:pPr>
            <a:r>
              <a:rPr dirty="0"/>
              <a:t>2. Address Country Mix Shift</a:t>
            </a:r>
          </a:p>
          <a:p>
            <a:pPr lvl="1">
              <a:defRPr sz="1300"/>
            </a:pPr>
            <a:r>
              <a:rPr dirty="0"/>
              <a:t>   • Investigate why Tier 4 growing fastest</a:t>
            </a:r>
          </a:p>
          <a:p>
            <a:pPr lvl="1">
              <a:defRPr sz="1300"/>
            </a:pPr>
            <a:r>
              <a:rPr dirty="0"/>
              <a:t>   • Rebalance UA spend toward higher-value tiers if appropriate</a:t>
            </a:r>
          </a:p>
          <a:p>
            <a:pPr lvl="1">
              <a:defRPr sz="1300"/>
            </a:pPr>
            <a:r>
              <a:rPr dirty="0"/>
              <a:t>   • Develop tier-specific features and pricing</a:t>
            </a:r>
          </a:p>
          <a:p>
            <a:pPr>
              <a:defRPr sz="1500"/>
            </a:pPr>
            <a:endParaRPr dirty="0"/>
          </a:p>
          <a:p>
            <a:pPr>
              <a:defRPr sz="1500" b="1"/>
            </a:pPr>
            <a:r>
              <a:rPr dirty="0"/>
              <a:t>3. Accelerate Time-to-First-Purchase</a:t>
            </a:r>
          </a:p>
          <a:p>
            <a:pPr lvl="1">
              <a:defRPr sz="1300"/>
            </a:pPr>
            <a:r>
              <a:rPr dirty="0"/>
              <a:t>   • Median 22 days is too long</a:t>
            </a:r>
          </a:p>
          <a:p>
            <a:pPr lvl="1">
              <a:defRPr sz="1300"/>
            </a:pPr>
            <a:r>
              <a:rPr dirty="0"/>
              <a:t>   • Test lower-priced entry offers ($0.99 starter pack?)</a:t>
            </a:r>
          </a:p>
          <a:p>
            <a:pPr lvl="1">
              <a:defRPr sz="1300"/>
            </a:pPr>
            <a:r>
              <a:rPr dirty="0"/>
              <a:t>   • Implement targeted campaigns at Day 7-14</a:t>
            </a:r>
          </a:p>
          <a:p>
            <a:pPr>
              <a:defRPr sz="1500"/>
            </a:pPr>
            <a:endParaRPr dirty="0"/>
          </a:p>
          <a:p>
            <a:pPr>
              <a:defRPr sz="1500" b="1"/>
            </a:pPr>
            <a:r>
              <a:rPr dirty="0"/>
              <a:t>4. Leverage Ad Engagement for Retention</a:t>
            </a:r>
          </a:p>
          <a:p>
            <a:pPr lvl="1">
              <a:defRPr sz="1300"/>
            </a:pPr>
            <a:r>
              <a:rPr dirty="0"/>
              <a:t>   • Ad views = strongest churn predictor</a:t>
            </a:r>
          </a:p>
          <a:p>
            <a:pPr lvl="1">
              <a:defRPr sz="1300"/>
            </a:pPr>
            <a:r>
              <a:rPr dirty="0"/>
              <a:t>   • Only 1% hit daily cap - huge growth opportunity</a:t>
            </a:r>
          </a:p>
          <a:p>
            <a:pPr lvl="1">
              <a:defRPr sz="1300"/>
            </a:pPr>
            <a:r>
              <a:rPr dirty="0"/>
              <a:t>   • Increase visibility, rewards, and incentives</a:t>
            </a:r>
          </a:p>
          <a:p>
            <a:pPr>
              <a:defRPr sz="1500"/>
            </a:pPr>
            <a:endParaRPr dirty="0"/>
          </a:p>
          <a:p>
            <a:pPr>
              <a:defRPr sz="1500" b="1"/>
            </a:pPr>
            <a:r>
              <a:rPr dirty="0"/>
              <a:t>5. Optimize Acquisition Mix</a:t>
            </a:r>
          </a:p>
          <a:p>
            <a:pPr lvl="1">
              <a:defRPr sz="1300"/>
            </a:pPr>
            <a:r>
              <a:rPr dirty="0"/>
              <a:t>   • Prioritize Paid Video (highest engagement)</a:t>
            </a:r>
          </a:p>
          <a:p>
            <a:pPr lvl="1">
              <a:defRPr sz="1300"/>
            </a:pPr>
            <a:r>
              <a:rPr dirty="0"/>
              <a:t>   • Calculate full ROI: (30-day LTV - CPI) by channel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7708" y="1794131"/>
            <a:ext cx="8119092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500" b="1"/>
            </a:pPr>
            <a:r>
              <a:rPr dirty="0"/>
              <a:t>Data Limitations:</a:t>
            </a:r>
          </a:p>
          <a:p>
            <a:pPr lvl="1">
              <a:defRPr sz="1300"/>
            </a:pPr>
            <a:r>
              <a:rPr dirty="0"/>
              <a:t>   • 4-month observation window only (Jan-Apr 2026)</a:t>
            </a:r>
          </a:p>
          <a:p>
            <a:pPr lvl="1">
              <a:defRPr sz="1300"/>
            </a:pPr>
            <a:r>
              <a:rPr dirty="0"/>
              <a:t>   • No marketing spend / CAC data for true ROI calculation</a:t>
            </a:r>
          </a:p>
          <a:p>
            <a:pPr lvl="1">
              <a:defRPr sz="1300"/>
            </a:pPr>
            <a:r>
              <a:rPr dirty="0"/>
              <a:t>   • Missing context: events, promotions, product changes</a:t>
            </a:r>
          </a:p>
          <a:p>
            <a:pPr lvl="1">
              <a:defRPr sz="1300"/>
            </a:pPr>
            <a:r>
              <a:rPr dirty="0"/>
              <a:t>   • Cannot assess seasonality or long-term trends</a:t>
            </a:r>
          </a:p>
          <a:p>
            <a:pPr>
              <a:defRPr sz="1500" b="1"/>
            </a:pPr>
            <a:endParaRPr dirty="0"/>
          </a:p>
          <a:p>
            <a:pPr>
              <a:defRPr sz="1500" b="1"/>
            </a:pPr>
            <a:r>
              <a:rPr dirty="0"/>
              <a:t>Data Quality Issues Found &amp; Handled:</a:t>
            </a:r>
          </a:p>
          <a:p>
            <a:pPr lvl="1">
              <a:defRPr sz="1300"/>
            </a:pPr>
            <a:r>
              <a:rPr dirty="0"/>
              <a:t>   • Ad view spike Apr 27-30 (flagged for investigation)</a:t>
            </a:r>
          </a:p>
          <a:p>
            <a:pPr lvl="1">
              <a:defRPr sz="1300"/>
            </a:pPr>
            <a:r>
              <a:rPr dirty="0"/>
              <a:t>   • Some purchase dates before install dates (documented)</a:t>
            </a:r>
          </a:p>
          <a:p>
            <a:pPr lvl="1">
              <a:defRPr sz="1300"/>
            </a:pPr>
            <a:r>
              <a:rPr dirty="0"/>
              <a:t>   • Early cohorts have incomplete observation (explained)</a:t>
            </a:r>
          </a:p>
          <a:p>
            <a:pPr>
              <a:defRPr sz="1500" b="1"/>
            </a:pPr>
            <a:endParaRPr dirty="0"/>
          </a:p>
          <a:p>
            <a:pPr>
              <a:defRPr sz="1500" b="1"/>
            </a:pPr>
            <a:r>
              <a:rPr dirty="0"/>
              <a:t>Recommended Next Steps:</a:t>
            </a:r>
          </a:p>
          <a:p>
            <a:pPr lvl="1">
              <a:defRPr sz="1300"/>
            </a:pPr>
            <a:r>
              <a:rPr dirty="0"/>
              <a:t>   • URGENT: Conduct FTUE analysis (retention bottleneck)</a:t>
            </a:r>
          </a:p>
          <a:p>
            <a:pPr lvl="1">
              <a:defRPr sz="1300"/>
            </a:pPr>
            <a:r>
              <a:rPr dirty="0"/>
              <a:t>   • Investigate Tier 4 growth drivers and strategic fit</a:t>
            </a:r>
          </a:p>
          <a:p>
            <a:pPr lvl="1">
              <a:defRPr sz="1300"/>
            </a:pPr>
            <a:r>
              <a:rPr dirty="0"/>
              <a:t>   • A/B test first-purchase pricing and timing</a:t>
            </a:r>
          </a:p>
          <a:p>
            <a:pPr lvl="1">
              <a:defRPr sz="1300"/>
            </a:pPr>
            <a:r>
              <a:rPr dirty="0"/>
              <a:t>   • Calculate 90-day LTV by channel for full ROI picture</a:t>
            </a:r>
          </a:p>
          <a:p>
            <a:pPr lvl="1">
              <a:defRPr sz="1300"/>
            </a:pPr>
            <a:r>
              <a:rPr dirty="0"/>
              <a:t>   • Enhance churn model with social/progression features</a:t>
            </a:r>
          </a:p>
          <a:p>
            <a:pPr lvl="1">
              <a:defRPr sz="1300"/>
            </a:pPr>
            <a:r>
              <a:rPr dirty="0"/>
              <a:t>   • Run cohort-stratified analyses (are recent cohorts different?)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1242</Words>
  <Application>Microsoft Office PowerPoint</Application>
  <PresentationFormat>On-screen Show (4:3)</PresentationFormat>
  <Paragraphs>158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Executive Summary - Key Findings</vt:lpstr>
      <vt:lpstr>Game Health - Strong Growth, Platform Differences</vt:lpstr>
      <vt:lpstr>Monetization - Highly Concentrated, Long Purchase Cycle</vt:lpstr>
      <vt:lpstr>ARPDAU Deep Dive - Simpson's Paradox Discovered</vt:lpstr>
      <vt:lpstr>Acquisition - Paid Video Wins on Engagement</vt:lpstr>
      <vt:lpstr>Churn Prediction - Interpretable Model Built</vt:lpstr>
      <vt:lpstr>Recommendations - 5 Priority Actions</vt:lpstr>
      <vt:lpstr>Limitations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Sharma, Rahul</cp:lastModifiedBy>
  <cp:revision>2</cp:revision>
  <dcterms:created xsi:type="dcterms:W3CDTF">2013-01-27T09:14:16Z</dcterms:created>
  <dcterms:modified xsi:type="dcterms:W3CDTF">2026-09-27T17:33:39Z</dcterms:modified>
  <cp:category/>
</cp:coreProperties>
</file>